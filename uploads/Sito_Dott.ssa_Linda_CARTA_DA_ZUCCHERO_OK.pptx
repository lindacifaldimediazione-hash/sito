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DFDC"/>
    <a:srgbClr val="99CCFF"/>
    <a:srgbClr val="F6F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Linda.cifaldi@live.it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1103" y="5566941"/>
            <a:ext cx="21707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1" dirty="0" err="1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</a:rPr>
              <a:t>Dott.ssa</a:t>
            </a:r>
            <a:r>
              <a:rPr sz="2000" b="0" i="1" dirty="0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</a:rPr>
              <a:t> Linda</a:t>
            </a:r>
            <a:r>
              <a:rPr lang="it-IT" sz="2000" b="0" i="1" dirty="0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</a:rPr>
              <a:t> Cifaldi</a:t>
            </a:r>
            <a:endParaRPr sz="2000" b="0" i="1" dirty="0">
              <a:solidFill>
                <a:schemeClr val="bg1">
                  <a:lumMod val="50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0" y="292608"/>
            <a:ext cx="6735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 </a:t>
            </a:r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sono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29400" y="292608"/>
            <a:ext cx="85472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292608"/>
            <a:ext cx="119776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rivolgersi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0754" y="292608"/>
            <a:ext cx="6463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Contatti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4289"/>
            <a:ext cx="10807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Primo colloquio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5295" y="610397"/>
            <a:ext cx="374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200" b="1" dirty="0">
                <a:solidFill>
                  <a:schemeClr val="accent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STUDIO </a:t>
            </a:r>
            <a:r>
              <a:rPr sz="1200" b="1" dirty="0">
                <a:solidFill>
                  <a:schemeClr val="accent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MEDIAZIONE FAMILIARE · ROMA ·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28725"/>
            <a:ext cx="6010275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Riportare</a:t>
            </a:r>
            <a:r>
              <a:rPr sz="4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il </a:t>
            </a:r>
            <a:r>
              <a:rPr sz="4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dialogo</a:t>
            </a:r>
            <a:br>
              <a:rPr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dove </a:t>
            </a:r>
            <a:r>
              <a:rPr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sembrava</a:t>
            </a:r>
            <a:r>
              <a:rPr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impossibile</a:t>
            </a:r>
            <a:r>
              <a:rPr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it-IT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t-IT" i="1" dirty="0">
                <a:solidFill>
                  <a:schemeClr val="tx2"/>
                </a:solidFill>
              </a:rPr>
              <a:t>Mediazione, relazione e strumenti espressivi per favorire ascolto, consapevolezza e cambiamento.</a:t>
            </a:r>
            <a:endParaRPr b="1" i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5295" y="3448644"/>
            <a:ext cx="415001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tx2"/>
                </a:solidFill>
              </a:rPr>
              <a:t>Credo che ogni individuo ed ogni famiglia possieda risorse e possibilità di evoluzione: il mio contributo consiste nell’accompagnarle affinché possano riconoscerle e trasformarle in nuove opportunità di benessere.</a:t>
            </a:r>
          </a:p>
          <a:p>
            <a:pPr algn="ctr"/>
            <a:endParaRPr lang="it-IT" dirty="0">
              <a:solidFill>
                <a:schemeClr val="tx2"/>
              </a:solidFill>
            </a:endParaRPr>
          </a:p>
          <a:p>
            <a:pPr algn="l"/>
            <a:endParaRPr sz="1700" b="0" dirty="0">
              <a:solidFill>
                <a:srgbClr val="52636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84440" y="5537062"/>
            <a:ext cx="2468880" cy="566928"/>
          </a:xfrm>
          <a:prstGeom prst="rect">
            <a:avLst/>
          </a:prstGeom>
          <a:ln w="1270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8333" y="5682027"/>
            <a:ext cx="21980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dirty="0" err="1">
                <a:solidFill>
                  <a:srgbClr val="FCFDFB"/>
                </a:solidFill>
                <a:latin typeface="Century Gothic (Corpo)"/>
              </a:rPr>
              <a:t>Prenota</a:t>
            </a:r>
            <a:r>
              <a:rPr sz="1200" b="1" dirty="0">
                <a:solidFill>
                  <a:srgbClr val="FCFDFB"/>
                </a:solidFill>
                <a:latin typeface="Century Gothic (Corpo)"/>
              </a:rPr>
              <a:t> un primo </a:t>
            </a:r>
            <a:r>
              <a:rPr sz="1200" b="1" dirty="0" err="1">
                <a:solidFill>
                  <a:srgbClr val="FCFDFB"/>
                </a:solidFill>
                <a:latin typeface="Century Gothic (Corpo)"/>
              </a:rPr>
              <a:t>colloquio</a:t>
            </a:r>
            <a:endParaRPr sz="1200" b="1" dirty="0">
              <a:solidFill>
                <a:srgbClr val="FCFDFB"/>
              </a:solidFill>
              <a:latin typeface="Century Gothic (Corpo)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86696" y="1733550"/>
            <a:ext cx="4553770" cy="3698737"/>
          </a:xfrm>
          <a:prstGeom prst="rect">
            <a:avLst/>
          </a:prstGeom>
          <a:effectLst>
            <a:softEdge rad="101600"/>
          </a:effectLst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CD86FF42-669C-0A37-8735-8DD0578B7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417663"/>
            <a:ext cx="721895" cy="4812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95636" y="292608"/>
            <a:ext cx="6735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 </a:t>
            </a:r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sono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38636" y="292608"/>
            <a:ext cx="85472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18796" y="292608"/>
            <a:ext cx="119776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rivolgersi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0828" y="292608"/>
            <a:ext cx="6463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Contatti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41956" y="318721"/>
            <a:ext cx="10807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Primo </a:t>
            </a:r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colloquio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66724" y="619307"/>
            <a:ext cx="15304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chemeClr val="accent1"/>
                </a:solidFill>
                <a:latin typeface="Century Gothic (Corpo)"/>
              </a:rPr>
              <a:t>CHI SONO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" y="926236"/>
            <a:ext cx="7960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Competenza</a:t>
            </a:r>
            <a:r>
              <a:rPr sz="2400" b="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professionale</a:t>
            </a:r>
            <a:r>
              <a:rPr sz="2400" b="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it-IT" sz="2400" b="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ascolto</a:t>
            </a:r>
            <a:r>
              <a:rPr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sz="24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attenzione</a:t>
            </a:r>
            <a:r>
              <a:rPr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alle </a:t>
            </a:r>
            <a:r>
              <a:rPr sz="24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relazioni</a:t>
            </a:r>
            <a:r>
              <a:rPr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6" y="1609133"/>
            <a:ext cx="701992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Sono </a:t>
            </a:r>
            <a:r>
              <a:rPr lang="it-IT" sz="1600" b="1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pedagogista e mediatrice familiare</a:t>
            </a:r>
            <a:r>
              <a:rPr lang="it-IT" sz="1600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da oltre vent’anni opero nei contesti sanitari e socio-educativi, accompagnando persone, coppie e famiglie nei momenti di cambiamento e complessità relazionale: </a:t>
            </a:r>
            <a:r>
              <a:rPr lang="it-IT" sz="1600" b="1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separazioni, conflitti generazionali, eredità e riorganizzazioni familiari</a:t>
            </a:r>
            <a:r>
              <a:rPr lang="it-IT" sz="1600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it-IT" sz="1600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Attraverso percorsi di </a:t>
            </a:r>
            <a:r>
              <a:rPr lang="it-IT" sz="1600" b="1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gestione alternativa del conflitto, supporto alla genitorialità e Parent Training</a:t>
            </a:r>
            <a:r>
              <a:rPr lang="it-IT" sz="1600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integro mediazione familiare, pedagogia e strumenti teatrali per favorire consapevolezza, dialogo e costruzione di nuovi equilibri.</a:t>
            </a:r>
          </a:p>
          <a:p>
            <a:endParaRPr lang="it-IT" sz="1600" i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600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Nel 2011 ho fondato un’associazione dedicata a progetti formativi e di prevenzione per il benessere di adulti, bambini e ragazzi. Ho inoltre svolto attività di </a:t>
            </a:r>
            <a:r>
              <a:rPr lang="it-IT" sz="1600" b="1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docenza e formazione specialistica</a:t>
            </a:r>
            <a:r>
              <a:rPr lang="it-IT" sz="1600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pubblicando contributi in ambito sanitario e riabilitativo, con particolare attenzione alla teatro-terapia.</a:t>
            </a:r>
          </a:p>
          <a:p>
            <a:endParaRPr lang="it-IT" sz="1600" i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600" b="1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Credo nella possibilità di ogni persona e di ogni famiglia di riconoscere le proprie risorse, affrontare il cambiamento e costruire nuove possibilità di benessere.</a:t>
            </a:r>
            <a:endParaRPr lang="it-IT" sz="1600" i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sz="1400" b="0" i="1" dirty="0">
              <a:solidFill>
                <a:srgbClr val="526363"/>
              </a:solidFill>
              <a:latin typeface="Apto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818129" y="1409645"/>
            <a:ext cx="2480425" cy="2881401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98DE50D-7B7E-5098-DC01-D1B0FE300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13" y="422983"/>
            <a:ext cx="721895" cy="481263"/>
          </a:xfrm>
          <a:prstGeom prst="rect">
            <a:avLst/>
          </a:prstGeom>
        </p:spPr>
      </p:pic>
      <p:sp>
        <p:nvSpPr>
          <p:cNvPr id="15" name="TextBox 1">
            <a:extLst>
              <a:ext uri="{FF2B5EF4-FFF2-40B4-BE49-F238E27FC236}">
                <a16:creationId xmlns:a16="http://schemas.microsoft.com/office/drawing/2014/main" id="{DE1DA844-3BB9-3421-3BF7-BE534C0B97E7}"/>
              </a:ext>
            </a:extLst>
          </p:cNvPr>
          <p:cNvSpPr txBox="1"/>
          <p:nvPr/>
        </p:nvSpPr>
        <p:spPr>
          <a:xfrm>
            <a:off x="9245345" y="4448978"/>
            <a:ext cx="19960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t-IT" sz="1400" i="1" dirty="0">
                <a:solidFill>
                  <a:schemeClr val="bg1">
                    <a:lumMod val="50000"/>
                  </a:schemeClr>
                </a:solidFill>
                <a:latin typeface="Century Gothic (Corpo)"/>
              </a:rPr>
              <a:t>Dott.ssa Linda Cifaldi</a:t>
            </a: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EBAEF542-D7E4-F60B-15FC-FDAEC0878338}"/>
              </a:ext>
            </a:extLst>
          </p:cNvPr>
          <p:cNvSpPr/>
          <p:nvPr/>
        </p:nvSpPr>
        <p:spPr>
          <a:xfrm flipV="1">
            <a:off x="1335405" y="6027302"/>
            <a:ext cx="2007870" cy="45719"/>
          </a:xfrm>
          <a:prstGeom prst="rect">
            <a:avLst/>
          </a:prstGeom>
          <a:solidFill>
            <a:srgbClr val="BED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AD657EBD-B946-6F1A-A40E-D86DA86BF625}"/>
              </a:ext>
            </a:extLst>
          </p:cNvPr>
          <p:cNvSpPr txBox="1"/>
          <p:nvPr/>
        </p:nvSpPr>
        <p:spPr>
          <a:xfrm>
            <a:off x="1335405" y="6126592"/>
            <a:ext cx="82426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chemeClr val="bg1">
                    <a:lumMod val="75000"/>
                  </a:schemeClr>
                </a:solidFill>
                <a:latin typeface="Aptos"/>
              </a:rPr>
              <a:t>FORMAZIONE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18954078-7E81-8253-E664-47ACED74F780}"/>
              </a:ext>
            </a:extLst>
          </p:cNvPr>
          <p:cNvSpPr txBox="1"/>
          <p:nvPr/>
        </p:nvSpPr>
        <p:spPr>
          <a:xfrm>
            <a:off x="1335405" y="6319987"/>
            <a:ext cx="174374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chemeClr val="bg1">
                    <a:lumMod val="75000"/>
                  </a:schemeClr>
                </a:solidFill>
                <a:latin typeface="Aptos"/>
              </a:rPr>
              <a:t>Università di Roma Tre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8A3EEB54-2959-8CD9-B0A2-44CD2B03E0A0}"/>
              </a:ext>
            </a:extLst>
          </p:cNvPr>
          <p:cNvSpPr/>
          <p:nvPr/>
        </p:nvSpPr>
        <p:spPr>
          <a:xfrm flipV="1">
            <a:off x="4672964" y="6027302"/>
            <a:ext cx="2118361" cy="45719"/>
          </a:xfrm>
          <a:prstGeom prst="rect">
            <a:avLst/>
          </a:prstGeom>
          <a:solidFill>
            <a:srgbClr val="BED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83C7F0F-07ED-8248-261C-B8F55A59712A}"/>
              </a:ext>
            </a:extLst>
          </p:cNvPr>
          <p:cNvSpPr txBox="1"/>
          <p:nvPr/>
        </p:nvSpPr>
        <p:spPr>
          <a:xfrm>
            <a:off x="4672964" y="6126592"/>
            <a:ext cx="108876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chemeClr val="bg1">
                    <a:lumMod val="75000"/>
                  </a:schemeClr>
                </a:solidFill>
                <a:latin typeface="Aptos"/>
              </a:rPr>
              <a:t>SPECIALIZZAZIONE</a:t>
            </a: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D2E375A9-4726-37BF-79A3-B289AF4E9ADA}"/>
              </a:ext>
            </a:extLst>
          </p:cNvPr>
          <p:cNvSpPr txBox="1"/>
          <p:nvPr/>
        </p:nvSpPr>
        <p:spPr>
          <a:xfrm>
            <a:off x="4672964" y="6298395"/>
            <a:ext cx="164391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chemeClr val="bg1">
                    <a:lumMod val="75000"/>
                  </a:schemeClr>
                </a:solidFill>
                <a:latin typeface="Aptos"/>
              </a:rPr>
              <a:t>Mediazione familiare</a:t>
            </a: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C4BBC2A7-C323-D363-3785-41672E8CA750}"/>
              </a:ext>
            </a:extLst>
          </p:cNvPr>
          <p:cNvSpPr/>
          <p:nvPr/>
        </p:nvSpPr>
        <p:spPr>
          <a:xfrm>
            <a:off x="8181975" y="6073020"/>
            <a:ext cx="2004178" cy="53572"/>
          </a:xfrm>
          <a:prstGeom prst="rect">
            <a:avLst/>
          </a:prstGeom>
          <a:solidFill>
            <a:srgbClr val="BED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267EEC45-6C10-38A9-02F0-30E4E7CAC4B4}"/>
              </a:ext>
            </a:extLst>
          </p:cNvPr>
          <p:cNvSpPr txBox="1"/>
          <p:nvPr/>
        </p:nvSpPr>
        <p:spPr>
          <a:xfrm>
            <a:off x="8181974" y="6126592"/>
            <a:ext cx="1088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bg1">
                    <a:lumMod val="75000"/>
                  </a:schemeClr>
                </a:solidFill>
                <a:latin typeface="Aptos"/>
              </a:rPr>
              <a:t>ALBO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2F67ED87-8FFA-03D0-7EA8-A204826142E5}"/>
              </a:ext>
            </a:extLst>
          </p:cNvPr>
          <p:cNvSpPr txBox="1"/>
          <p:nvPr/>
        </p:nvSpPr>
        <p:spPr>
          <a:xfrm>
            <a:off x="8181976" y="6298395"/>
            <a:ext cx="1643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200" b="1" dirty="0">
                <a:solidFill>
                  <a:schemeClr val="bg1">
                    <a:lumMod val="75000"/>
                  </a:schemeClr>
                </a:solidFill>
                <a:latin typeface="Aptos"/>
              </a:rPr>
              <a:t>EP N°212</a:t>
            </a:r>
            <a:endParaRPr sz="1200" b="1" dirty="0">
              <a:solidFill>
                <a:schemeClr val="bg1">
                  <a:lumMod val="75000"/>
                </a:schemeClr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58692" y="292608"/>
            <a:ext cx="6735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 sono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1692" y="292608"/>
            <a:ext cx="88517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1852" y="292608"/>
            <a:ext cx="119776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rivolgersi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7772" y="292608"/>
            <a:ext cx="6463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Contatti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8767" y="292608"/>
            <a:ext cx="10807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Primo </a:t>
            </a:r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colloquio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7200" y="623665"/>
            <a:ext cx="79220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it-IT" sz="1200" b="1" dirty="0">
                <a:solidFill>
                  <a:schemeClr val="accent1"/>
                </a:solidFill>
                <a:latin typeface="Century Gothic (Corpo)"/>
              </a:rPr>
              <a:t>I SERVIZI</a:t>
            </a:r>
            <a:endParaRPr sz="1200" b="1" dirty="0">
              <a:solidFill>
                <a:schemeClr val="accent1"/>
              </a:solidFill>
              <a:latin typeface="Century Gothic (Corpo)"/>
            </a:endParaRP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5460F685-5A00-E9D0-B545-317C68B8D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4963"/>
            <a:ext cx="721895" cy="481263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5CB7437-75DA-0E75-11AB-FD43B6886FBE}"/>
              </a:ext>
            </a:extLst>
          </p:cNvPr>
          <p:cNvSpPr txBox="1"/>
          <p:nvPr/>
        </p:nvSpPr>
        <p:spPr>
          <a:xfrm>
            <a:off x="1981201" y="1029117"/>
            <a:ext cx="8277224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it-IT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it-IT" sz="2000" b="1" dirty="0">
                <a:solidFill>
                  <a:schemeClr val="accent1">
                    <a:lumMod val="75000"/>
                  </a:schemeClr>
                </a:solidFill>
              </a:rPr>
              <a:t>Mediazione familiare</a:t>
            </a: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	Uno spazio di confronto e dialogo per accompagnare le famiglie nei 	momenti di cambiamento e favorire una comunicazione più efficace.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it-IT" sz="2000" b="1" dirty="0">
                <a:solidFill>
                  <a:schemeClr val="accent1">
                    <a:lumMod val="75000"/>
                  </a:schemeClr>
                </a:solidFill>
              </a:rPr>
              <a:t>Parent Training</a:t>
            </a: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	Interventi rivolti ai genitori finalizzati allo sviluppo di strategie educative 	efficaci, alla gestione delle difficoltà quotidiane e al rafforzamento delle 	competenze genitoriali.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it-IT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it-IT" sz="2000" b="1" dirty="0">
                <a:solidFill>
                  <a:schemeClr val="accent1">
                    <a:lumMod val="75000"/>
                  </a:schemeClr>
                </a:solidFill>
              </a:rPr>
              <a:t>Coordinamento genitoriale</a:t>
            </a: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	Un percorso orientato a sostenere la collaborazione tra genitori e a 	promuovere decisioni condivise nell’interesse dei figli.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it-IT" sz="2000" b="1" dirty="0">
                <a:solidFill>
                  <a:schemeClr val="accent1">
                    <a:lumMod val="75000"/>
                  </a:schemeClr>
                </a:solidFill>
              </a:rPr>
              <a:t>Supporto alla genitorialità</a:t>
            </a: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	Percorsi di accompagnamento rivolti ai genitori per valorizzare risorse 	educative e competenze relazionali.</a:t>
            </a:r>
          </a:p>
          <a:p>
            <a:pPr>
              <a:buNone/>
            </a:pPr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Box 32">
            <a:extLst>
              <a:ext uri="{FF2B5EF4-FFF2-40B4-BE49-F238E27FC236}">
                <a16:creationId xmlns:a16="http://schemas.microsoft.com/office/drawing/2014/main" id="{266D5AA7-DD70-734E-1202-80D8F12C076C}"/>
              </a:ext>
            </a:extLst>
          </p:cNvPr>
          <p:cNvSpPr txBox="1"/>
          <p:nvPr/>
        </p:nvSpPr>
        <p:spPr>
          <a:xfrm>
            <a:off x="9533405" y="6321933"/>
            <a:ext cx="2401619" cy="238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Clicca</a:t>
            </a:r>
            <a:r>
              <a:rPr sz="950" b="1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50" b="1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sz="950" b="1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sz="950" b="1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ambito</a:t>
            </a:r>
            <a:r>
              <a:rPr sz="950" b="1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 </a:t>
            </a:r>
            <a:r>
              <a:rPr sz="950" b="1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approfondire</a:t>
            </a:r>
            <a:endParaRPr sz="950" b="1" i="1" dirty="0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0" y="283375"/>
            <a:ext cx="6735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 sono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283375"/>
            <a:ext cx="88517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283375"/>
            <a:ext cx="119776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rivolgersi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5480" y="283375"/>
            <a:ext cx="6463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Contatti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8695" y="292608"/>
            <a:ext cx="10807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Primo </a:t>
            </a:r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colloquio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1032" y="593112"/>
            <a:ext cx="10550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it-IT" sz="1200" b="1" dirty="0">
                <a:solidFill>
                  <a:schemeClr val="accent1"/>
                </a:solidFill>
                <a:latin typeface="Century Gothic (Corpo)"/>
              </a:rPr>
              <a:t>Mediazione</a:t>
            </a:r>
            <a:endParaRPr sz="1200" b="1" dirty="0">
              <a:solidFill>
                <a:schemeClr val="accent1"/>
              </a:solidFill>
              <a:latin typeface="Century Gothic (Corpo)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F3886BB6-8F46-F84C-7F61-870E8B3AA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87" y="426948"/>
            <a:ext cx="721895" cy="481263"/>
          </a:xfrm>
          <a:prstGeom prst="rect">
            <a:avLst/>
          </a:prstGeom>
        </p:spPr>
      </p:pic>
      <p:sp>
        <p:nvSpPr>
          <p:cNvPr id="18" name="Oval 3">
            <a:extLst>
              <a:ext uri="{FF2B5EF4-FFF2-40B4-BE49-F238E27FC236}">
                <a16:creationId xmlns:a16="http://schemas.microsoft.com/office/drawing/2014/main" id="{1BA73797-A562-65E7-6457-09AD86A1CC0B}"/>
              </a:ext>
            </a:extLst>
          </p:cNvPr>
          <p:cNvSpPr/>
          <p:nvPr/>
        </p:nvSpPr>
        <p:spPr>
          <a:xfrm>
            <a:off x="4381500" y="4321515"/>
            <a:ext cx="2994660" cy="2099777"/>
          </a:xfrm>
          <a:prstGeom prst="ellipse">
            <a:avLst/>
          </a:prstGeom>
          <a:solidFill>
            <a:schemeClr val="accent1"/>
          </a:solidFill>
          <a:ln w="9525" cap="rnd" cmpd="sng" algn="ctr">
            <a:solidFill>
              <a:srgbClr val="353535">
                <a:shade val="90000"/>
              </a:srgbClr>
            </a:solidFill>
            <a:prstDash val="solid"/>
          </a:ln>
          <a:effectLst>
            <a:outerShdw blurRad="38100" dist="25400" dir="5400000" rotWithShape="0">
              <a:srgbClr val="000000">
                <a:alpha val="25000"/>
              </a:srgbClr>
            </a:outerShdw>
            <a:softEdge rad="76200"/>
          </a:effectLst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DFDFD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Cos’è</a:t>
            </a:r>
            <a:endParaRPr kumimoji="0" lang="it-IT" sz="1600" b="1" i="0" u="none" strike="noStrike" kern="1200" cap="none" spc="0" normalizeH="0" baseline="0" noProof="0" dirty="0">
              <a:ln>
                <a:noFill/>
              </a:ln>
              <a:solidFill>
                <a:srgbClr val="DFDFDC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È un metodo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che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aiuta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gestire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i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conflitti</a:t>
            </a:r>
            <a:r>
              <a:rPr lang="it-IT" sz="1600" dirty="0">
                <a:solidFill>
                  <a:prstClr val="white"/>
                </a:solidFill>
                <a:latin typeface="Century Gothic" panose="020B0502020202020204"/>
              </a:rPr>
              <a:t>,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migliorare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il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dialogo</a:t>
            </a:r>
            <a:r>
              <a:rPr lang="it-IT" sz="1600" dirty="0">
                <a:solidFill>
                  <a:prstClr val="white"/>
                </a:solidFill>
                <a:latin typeface="Century Gothic" panose="020B0502020202020204"/>
              </a:rPr>
              <a:t> e ridefinire le relazioni 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9" name="Oval 4">
            <a:extLst>
              <a:ext uri="{FF2B5EF4-FFF2-40B4-BE49-F238E27FC236}">
                <a16:creationId xmlns:a16="http://schemas.microsoft.com/office/drawing/2014/main" id="{866A22F0-BD0E-BC60-66A8-53F266A0AE2C}"/>
              </a:ext>
            </a:extLst>
          </p:cNvPr>
          <p:cNvSpPr/>
          <p:nvPr/>
        </p:nvSpPr>
        <p:spPr>
          <a:xfrm>
            <a:off x="4820316" y="760186"/>
            <a:ext cx="4002584" cy="3349763"/>
          </a:xfrm>
          <a:prstGeom prst="ellipse">
            <a:avLst/>
          </a:prstGeom>
          <a:solidFill>
            <a:schemeClr val="accent1"/>
          </a:solidFill>
          <a:ln w="9525" cap="rnd" cmpd="sng" algn="ctr">
            <a:solidFill>
              <a:srgbClr val="353535">
                <a:shade val="90000"/>
              </a:srgbClr>
            </a:solidFill>
            <a:prstDash val="solid"/>
          </a:ln>
          <a:effectLst>
            <a:outerShdw blurRad="38100" dist="25400" dir="5400000" rotWithShape="0">
              <a:srgbClr val="000000">
                <a:alpha val="25000"/>
              </a:srgbClr>
            </a:outerShdw>
            <a:softEdge rad="762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DFDFD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 chi è </a:t>
            </a:r>
            <a:r>
              <a:rPr kumimoji="0" sz="1600" b="1" i="0" u="none" strike="noStrike" kern="0" cap="none" spc="0" normalizeH="0" baseline="0" noProof="0" dirty="0" err="1">
                <a:ln>
                  <a:noFill/>
                </a:ln>
                <a:solidFill>
                  <a:srgbClr val="DFDFD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rivolta</a:t>
            </a:r>
            <a:endParaRPr kumimoji="0" lang="it-IT" sz="1600" b="1" i="0" u="none" strike="noStrike" kern="0" cap="none" spc="0" normalizeH="0" baseline="0" noProof="0" dirty="0">
              <a:ln>
                <a:noFill/>
              </a:ln>
              <a:solidFill>
                <a:srgbClr val="DFDFDC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000" b="1" i="0" u="none" strike="noStrike" kern="0" cap="none" spc="0" normalizeH="0" baseline="0" noProof="0" dirty="0">
              <a:ln>
                <a:noFill/>
              </a:ln>
              <a:solidFill>
                <a:srgbClr val="DFDFDC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Famiglie </a:t>
            </a:r>
            <a:r>
              <a:rPr kumimoji="0" lang="it-IT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tuttə</a:t>
            </a: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genitori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Coppie in fase di separazione  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Genitori che vogliono tutelare il benessere dei </a:t>
            </a:r>
            <a:r>
              <a:rPr kumimoji="0" lang="it-IT" altLang="it-IT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figlə</a:t>
            </a:r>
            <a:r>
              <a:rPr kumimoji="0" lang="it-IT" alt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Famiglie con difficoltà comunicative o relazionali 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 partner che desiderano trovare accordi sereni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0" name="Oval 5">
            <a:extLst>
              <a:ext uri="{FF2B5EF4-FFF2-40B4-BE49-F238E27FC236}">
                <a16:creationId xmlns:a16="http://schemas.microsoft.com/office/drawing/2014/main" id="{85A3A098-0A07-FC91-573E-FB5973DDEF4E}"/>
              </a:ext>
            </a:extLst>
          </p:cNvPr>
          <p:cNvSpPr/>
          <p:nvPr/>
        </p:nvSpPr>
        <p:spPr>
          <a:xfrm>
            <a:off x="8520100" y="2508290"/>
            <a:ext cx="3157550" cy="3499837"/>
          </a:xfrm>
          <a:prstGeom prst="ellipse">
            <a:avLst/>
          </a:prstGeom>
          <a:solidFill>
            <a:schemeClr val="accent1"/>
          </a:solidFill>
          <a:ln w="9525" cap="rnd" cmpd="sng" algn="ctr">
            <a:solidFill>
              <a:srgbClr val="353535">
                <a:shade val="90000"/>
              </a:srgbClr>
            </a:solidFill>
            <a:prstDash val="solid"/>
          </a:ln>
          <a:effectLst>
            <a:outerShdw blurRad="38100" dist="25400" dir="5400000" rotWithShape="0">
              <a:srgbClr val="000000">
                <a:alpha val="25000"/>
              </a:srgbClr>
            </a:outerShdw>
            <a:softEdge rad="762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0" cap="none" spc="0" normalizeH="0" baseline="0" noProof="0" dirty="0" err="1">
                <a:ln>
                  <a:noFill/>
                </a:ln>
                <a:solidFill>
                  <a:srgbClr val="DFDFD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Perché</a:t>
            </a:r>
            <a:r>
              <a:rPr kumimoji="0" b="1" i="0" u="none" strike="noStrike" kern="0" cap="none" spc="0" normalizeH="0" baseline="0" noProof="0" dirty="0">
                <a:ln>
                  <a:noFill/>
                </a:ln>
                <a:solidFill>
                  <a:srgbClr val="DFDFD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it-IT" b="1" i="0" u="none" strike="noStrike" kern="0" cap="none" spc="0" normalizeH="0" baseline="0" noProof="0" dirty="0">
                <a:ln>
                  <a:noFill/>
                </a:ln>
                <a:solidFill>
                  <a:srgbClr val="DFDFD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farla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800" b="1" i="0" u="none" strike="noStrike" kern="0" cap="none" spc="0" normalizeH="0" baseline="0" noProof="0" dirty="0">
              <a:ln>
                <a:noFill/>
              </a:ln>
              <a:solidFill>
                <a:srgbClr val="353535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Ridurre conflitti e tensioni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Migliorare il dialogo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Proteggere il benessere dei </a:t>
            </a:r>
            <a:r>
              <a:rPr kumimoji="0" lang="it-IT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figlə</a:t>
            </a: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Trovare soluzioni condivise e durature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Evitare lunghi contenziosi legali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353535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Oval 6">
            <a:extLst>
              <a:ext uri="{FF2B5EF4-FFF2-40B4-BE49-F238E27FC236}">
                <a16:creationId xmlns:a16="http://schemas.microsoft.com/office/drawing/2014/main" id="{D07CBA45-66A3-4123-FEC0-A2EC75503708}"/>
              </a:ext>
            </a:extLst>
          </p:cNvPr>
          <p:cNvSpPr/>
          <p:nvPr/>
        </p:nvSpPr>
        <p:spPr>
          <a:xfrm>
            <a:off x="1257874" y="1110252"/>
            <a:ext cx="3123626" cy="2116853"/>
          </a:xfrm>
          <a:prstGeom prst="ellipse">
            <a:avLst/>
          </a:prstGeom>
          <a:solidFill>
            <a:schemeClr val="accent1"/>
          </a:solidFill>
          <a:ln w="9525" cap="rnd" cmpd="sng" algn="ctr">
            <a:solidFill>
              <a:srgbClr val="353535">
                <a:shade val="90000"/>
              </a:srgbClr>
            </a:solidFill>
            <a:prstDash val="solid"/>
          </a:ln>
          <a:effectLst>
            <a:outerShdw blurRad="38100" dist="25400" dir="5400000" rotWithShape="0">
              <a:srgbClr val="000000">
                <a:alpha val="25000"/>
              </a:srgbClr>
            </a:outerShdw>
            <a:softEdge rad="76200"/>
          </a:effectLst>
        </p:spPr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bg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percorso </a:t>
            </a:r>
          </a:p>
          <a:p>
            <a:pPr algn="ctr"/>
            <a:endParaRPr lang="it-IT" sz="1400" dirty="0">
              <a:solidFill>
                <a:schemeClr val="bg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t-IT" sz="1600" dirty="0">
                <a:solidFill>
                  <a:schemeClr val="bg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Strutturato per ritrovare un canale di comunicazione e costruire accordi sostenibili.</a:t>
            </a:r>
          </a:p>
        </p:txBody>
      </p:sp>
      <p:sp>
        <p:nvSpPr>
          <p:cNvPr id="24" name="Oval 4">
            <a:extLst>
              <a:ext uri="{FF2B5EF4-FFF2-40B4-BE49-F238E27FC236}">
                <a16:creationId xmlns:a16="http://schemas.microsoft.com/office/drawing/2014/main" id="{4C6BE7C5-8A42-E7AB-C7EE-491FAC01988E}"/>
              </a:ext>
            </a:extLst>
          </p:cNvPr>
          <p:cNvSpPr/>
          <p:nvPr/>
        </p:nvSpPr>
        <p:spPr>
          <a:xfrm>
            <a:off x="733425" y="3400054"/>
            <a:ext cx="2847976" cy="2950560"/>
          </a:xfrm>
          <a:prstGeom prst="ellipse">
            <a:avLst/>
          </a:prstGeom>
          <a:solidFill>
            <a:schemeClr val="accent1"/>
          </a:solidFill>
          <a:ln w="9525" cap="rnd" cmpd="sng" algn="ctr">
            <a:solidFill>
              <a:srgbClr val="353535">
                <a:shade val="90000"/>
              </a:srgbClr>
            </a:solidFill>
            <a:prstDash val="solid"/>
          </a:ln>
          <a:effectLst>
            <a:outerShdw blurRad="38100" dist="25400" dir="5400000" rotWithShape="0">
              <a:srgbClr val="000000">
                <a:alpha val="25000"/>
              </a:srgbClr>
            </a:outerShdw>
            <a:softEdge rad="762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0" cap="none" spc="0" normalizeH="0" baseline="0" noProof="0" dirty="0">
              <a:ln>
                <a:noFill/>
              </a:ln>
              <a:solidFill>
                <a:srgbClr val="DFDFDC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000" b="1" i="0" u="none" strike="noStrike" kern="0" cap="none" spc="0" normalizeH="0" baseline="0" noProof="0" dirty="0">
              <a:ln>
                <a:noFill/>
              </a:ln>
              <a:solidFill>
                <a:srgbClr val="DFDFDC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543A7645-BD30-AAC5-E291-078294F322C1}"/>
              </a:ext>
            </a:extLst>
          </p:cNvPr>
          <p:cNvSpPr txBox="1"/>
          <p:nvPr/>
        </p:nvSpPr>
        <p:spPr>
          <a:xfrm>
            <a:off x="888321" y="3757060"/>
            <a:ext cx="25002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b="1" kern="0" dirty="0">
                <a:solidFill>
                  <a:srgbClr val="DFDFDC"/>
                </a:solidFill>
                <a:latin typeface="Century Gothic" panose="020B0502020202020204"/>
              </a:rPr>
              <a:t>L’Approccio</a:t>
            </a:r>
          </a:p>
          <a:p>
            <a:pPr algn="ctr"/>
            <a:endParaRPr lang="it-IT" sz="1600" b="0" dirty="0">
              <a:solidFill>
                <a:srgbClr val="DFDFDC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 </a:t>
            </a:r>
            <a:r>
              <a:rPr sz="1600" b="0" dirty="0" err="1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offro</a:t>
            </a:r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0" dirty="0" err="1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giudizi</a:t>
            </a:r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né </a:t>
            </a:r>
            <a:r>
              <a:rPr sz="1600" b="0" dirty="0" err="1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soluzioni</a:t>
            </a:r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0" dirty="0" err="1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preconfezionate</a:t>
            </a:r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1600" b="0" dirty="0" err="1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creo</a:t>
            </a:r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 </a:t>
            </a:r>
            <a:r>
              <a:rPr sz="1600" b="0" dirty="0" err="1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condizioni</a:t>
            </a:r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0" dirty="0" err="1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perché</a:t>
            </a:r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0" dirty="0" err="1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siate</a:t>
            </a:r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0" dirty="0" err="1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voi</a:t>
            </a:r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600" b="0" dirty="0" err="1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insieme</a:t>
            </a:r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</a:t>
            </a:r>
            <a:r>
              <a:rPr sz="1600" b="0" dirty="0" err="1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trovare</a:t>
            </a:r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nuovo </a:t>
            </a:r>
            <a:r>
              <a:rPr sz="1600" b="0" dirty="0" err="1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equilibrio</a:t>
            </a:r>
            <a:r>
              <a:rPr sz="1600" b="0" dirty="0">
                <a:solidFill>
                  <a:srgbClr val="DFDFDC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0" y="292608"/>
            <a:ext cx="6735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 sono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292608"/>
            <a:ext cx="88517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292608"/>
            <a:ext cx="119776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rivolgersi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5480" y="292608"/>
            <a:ext cx="6463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Contatti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9603" y="292608"/>
            <a:ext cx="10807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Primo </a:t>
            </a:r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colloquio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0139" y="621596"/>
            <a:ext cx="89960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 PRINCIPI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1452" y="2894562"/>
            <a:ext cx="3439158" cy="45719"/>
          </a:xfrm>
          <a:prstGeom prst="rect">
            <a:avLst/>
          </a:prstGeom>
          <a:solidFill>
            <a:srgbClr val="BED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91452" y="3057225"/>
            <a:ext cx="3439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Spazio</a:t>
            </a:r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400" b="1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neutro</a:t>
            </a:r>
            <a:endParaRPr sz="24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91453" y="3728411"/>
            <a:ext cx="3439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Un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luogo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terzo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dove tutti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hanno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lo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stesso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diritto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di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parola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8863" y="3057225"/>
            <a:ext cx="3439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Riservatezza</a:t>
            </a:r>
            <a:endParaRPr sz="24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0840" y="3716700"/>
            <a:ext cx="34391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Uno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spazio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protetto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in cui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potersi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confrontare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con rispetto.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09923" y="4683181"/>
            <a:ext cx="3420685" cy="45719"/>
          </a:xfrm>
          <a:prstGeom prst="rect">
            <a:avLst/>
          </a:prstGeom>
          <a:solidFill>
            <a:srgbClr val="BED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91452" y="4855088"/>
            <a:ext cx="3383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Volontarietà</a:t>
            </a:r>
            <a:endParaRPr sz="24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09923" y="5449908"/>
            <a:ext cx="33837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La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mediazione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è un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percorso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scelto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e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costruito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insieme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8863" y="4855088"/>
            <a:ext cx="34391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Centralità</a:t>
            </a:r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400" b="1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dei</a:t>
            </a:r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400" b="1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figli</a:t>
            </a:r>
            <a:endParaRPr sz="24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88863" y="5403728"/>
            <a:ext cx="3439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Quando ci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sono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minori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, il loro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benessere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guida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le </a:t>
            </a:r>
            <a:r>
              <a:rPr sz="1400" b="0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decisioni</a:t>
            </a:r>
            <a:r>
              <a:rPr sz="1400" b="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4A1FF750-5F55-CE35-11E0-2222D758A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25059"/>
            <a:ext cx="721895" cy="481263"/>
          </a:xfrm>
          <a:prstGeom prst="rect">
            <a:avLst/>
          </a:prstGeom>
        </p:spPr>
      </p:pic>
      <p:sp>
        <p:nvSpPr>
          <p:cNvPr id="50" name="TextBox 7">
            <a:extLst>
              <a:ext uri="{FF2B5EF4-FFF2-40B4-BE49-F238E27FC236}">
                <a16:creationId xmlns:a16="http://schemas.microsoft.com/office/drawing/2014/main" id="{EDE8D9C6-43C6-62B3-84F2-62CFC5358B40}"/>
              </a:ext>
            </a:extLst>
          </p:cNvPr>
          <p:cNvSpPr txBox="1"/>
          <p:nvPr/>
        </p:nvSpPr>
        <p:spPr>
          <a:xfrm>
            <a:off x="1255295" y="1390088"/>
            <a:ext cx="9717506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sono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momenti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cui il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dialogo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interrompe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trovare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accordo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diventa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difficile. </a:t>
            </a:r>
            <a:endParaRPr lang="it-IT" b="0" i="1" dirty="0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mediazione</a:t>
            </a:r>
            <a:r>
              <a:rPr lang="it-IT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offre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uno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spazio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neutrale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ascoltarsi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chiarire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bisogni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endParaRPr lang="it-IT" b="0" i="1" dirty="0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affrontare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ciò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cambiando</a:t>
            </a:r>
            <a:r>
              <a:rPr b="0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D25AA3A9-9102-6972-6414-A9969F852F37}"/>
              </a:ext>
            </a:extLst>
          </p:cNvPr>
          <p:cNvSpPr/>
          <p:nvPr/>
        </p:nvSpPr>
        <p:spPr>
          <a:xfrm>
            <a:off x="6788863" y="2903248"/>
            <a:ext cx="3439158" cy="45719"/>
          </a:xfrm>
          <a:prstGeom prst="rect">
            <a:avLst/>
          </a:prstGeom>
          <a:solidFill>
            <a:srgbClr val="BED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F9FECE0D-6EF9-2461-8D83-3DD828428B71}"/>
              </a:ext>
            </a:extLst>
          </p:cNvPr>
          <p:cNvSpPr/>
          <p:nvPr/>
        </p:nvSpPr>
        <p:spPr>
          <a:xfrm>
            <a:off x="6788863" y="4683181"/>
            <a:ext cx="3439158" cy="45719"/>
          </a:xfrm>
          <a:prstGeom prst="rect">
            <a:avLst/>
          </a:prstGeom>
          <a:solidFill>
            <a:srgbClr val="BED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272521" y="614787"/>
            <a:ext cx="17812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QUANDO RIVOLGERSI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2C97A484-EAAC-D127-A05D-670B76BD7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1306"/>
            <a:ext cx="721895" cy="481263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C650A588-E06F-1C32-5AB9-C9D9EA341E5D}"/>
              </a:ext>
            </a:extLst>
          </p:cNvPr>
          <p:cNvSpPr txBox="1"/>
          <p:nvPr/>
        </p:nvSpPr>
        <p:spPr>
          <a:xfrm>
            <a:off x="5486400" y="292608"/>
            <a:ext cx="6735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 sono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0814E630-4F12-CF01-8737-FC1F65957A1C}"/>
              </a:ext>
            </a:extLst>
          </p:cNvPr>
          <p:cNvSpPr txBox="1"/>
          <p:nvPr/>
        </p:nvSpPr>
        <p:spPr>
          <a:xfrm>
            <a:off x="6629400" y="292608"/>
            <a:ext cx="85472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Mediazione</a:t>
            </a:r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54199006-30EE-FC71-4A4A-6DB15FAA9411}"/>
              </a:ext>
            </a:extLst>
          </p:cNvPr>
          <p:cNvSpPr txBox="1"/>
          <p:nvPr/>
        </p:nvSpPr>
        <p:spPr>
          <a:xfrm>
            <a:off x="7909560" y="292608"/>
            <a:ext cx="119776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rivolgersi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5EB4B549-8C96-4179-A13B-717FBE8BD517}"/>
              </a:ext>
            </a:extLst>
          </p:cNvPr>
          <p:cNvSpPr txBox="1"/>
          <p:nvPr/>
        </p:nvSpPr>
        <p:spPr>
          <a:xfrm>
            <a:off x="9555480" y="292608"/>
            <a:ext cx="9555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Contatti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A492EE18-3824-067B-29E3-779F9F196AFD}"/>
              </a:ext>
            </a:extLst>
          </p:cNvPr>
          <p:cNvSpPr txBox="1"/>
          <p:nvPr/>
        </p:nvSpPr>
        <p:spPr>
          <a:xfrm>
            <a:off x="10640293" y="292608"/>
            <a:ext cx="10807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Primo </a:t>
            </a:r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colloquio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Box 6">
            <a:extLst>
              <a:ext uri="{FF2B5EF4-FFF2-40B4-BE49-F238E27FC236}">
                <a16:creationId xmlns:a16="http://schemas.microsoft.com/office/drawing/2014/main" id="{9F6568AA-AC69-2E10-7C2B-04229494EF3B}"/>
              </a:ext>
            </a:extLst>
          </p:cNvPr>
          <p:cNvSpPr txBox="1"/>
          <p:nvPr/>
        </p:nvSpPr>
        <p:spPr>
          <a:xfrm>
            <a:off x="2486025" y="1387685"/>
            <a:ext cx="7183755" cy="584775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anchor="t">
            <a:spAutoFit/>
          </a:bodyPr>
          <a:lstStyle/>
          <a:p>
            <a:pPr algn="l"/>
            <a:r>
              <a:rPr sz="3200" b="1" i="0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la </a:t>
            </a:r>
            <a:r>
              <a:rPr sz="3200" b="1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mediazione</a:t>
            </a:r>
            <a:r>
              <a:rPr sz="3200" b="1" i="0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b="1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sz="3200" b="1" i="0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b="1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aiutare</a:t>
            </a:r>
            <a:endParaRPr sz="3200" b="1" i="0" dirty="0">
              <a:solidFill>
                <a:schemeClr val="tx2">
                  <a:lumMod val="60000"/>
                  <a:lumOff val="40000"/>
                </a:schemeClr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Rectangle 8">
            <a:extLst>
              <a:ext uri="{FF2B5EF4-FFF2-40B4-BE49-F238E27FC236}">
                <a16:creationId xmlns:a16="http://schemas.microsoft.com/office/drawing/2014/main" id="{ED2E6B89-E442-9D45-A540-C35656EE4B64}"/>
              </a:ext>
            </a:extLst>
          </p:cNvPr>
          <p:cNvSpPr/>
          <p:nvPr/>
        </p:nvSpPr>
        <p:spPr>
          <a:xfrm>
            <a:off x="1563243" y="2732304"/>
            <a:ext cx="2331720" cy="16459"/>
          </a:xfrm>
          <a:prstGeom prst="rect">
            <a:avLst/>
          </a:prstGeom>
          <a:solidFill>
            <a:srgbClr val="C6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Box 9">
            <a:extLst>
              <a:ext uri="{FF2B5EF4-FFF2-40B4-BE49-F238E27FC236}">
                <a16:creationId xmlns:a16="http://schemas.microsoft.com/office/drawing/2014/main" id="{9DD9B46B-C150-236B-3604-21C8D218BDFF}"/>
              </a:ext>
            </a:extLst>
          </p:cNvPr>
          <p:cNvSpPr txBox="1"/>
          <p:nvPr/>
        </p:nvSpPr>
        <p:spPr>
          <a:xfrm>
            <a:off x="1201571" y="2942446"/>
            <a:ext cx="3004349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Separazione</a:t>
            </a:r>
            <a:r>
              <a:rPr sz="2000" b="1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divorzio</a:t>
            </a:r>
            <a:endParaRPr sz="2000" b="1" i="0" dirty="0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Box 10">
            <a:extLst>
              <a:ext uri="{FF2B5EF4-FFF2-40B4-BE49-F238E27FC236}">
                <a16:creationId xmlns:a16="http://schemas.microsoft.com/office/drawing/2014/main" id="{E2C93F74-6414-1120-BCFC-4B4A24A95DA7}"/>
              </a:ext>
            </a:extLst>
          </p:cNvPr>
          <p:cNvSpPr txBox="1"/>
          <p:nvPr/>
        </p:nvSpPr>
        <p:spPr>
          <a:xfrm>
            <a:off x="1272521" y="3439947"/>
            <a:ext cx="2785129" cy="1015663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anchor="t">
            <a:spAutoFit/>
          </a:bodyPr>
          <a:lstStyle/>
          <a:p>
            <a:pPr algn="ctr"/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affrontare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separazione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maggiore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chiarezza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soprattutto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è difficile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trovare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punto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d’incontro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4" name="Rectangle 11">
            <a:extLst>
              <a:ext uri="{FF2B5EF4-FFF2-40B4-BE49-F238E27FC236}">
                <a16:creationId xmlns:a16="http://schemas.microsoft.com/office/drawing/2014/main" id="{5874E4A3-1A67-EB55-DD4B-BC3A48B0EB3C}"/>
              </a:ext>
            </a:extLst>
          </p:cNvPr>
          <p:cNvSpPr/>
          <p:nvPr/>
        </p:nvSpPr>
        <p:spPr>
          <a:xfrm>
            <a:off x="4920996" y="2741829"/>
            <a:ext cx="2331720" cy="16459"/>
          </a:xfrm>
          <a:prstGeom prst="rect">
            <a:avLst/>
          </a:prstGeom>
          <a:solidFill>
            <a:srgbClr val="C6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12">
            <a:extLst>
              <a:ext uri="{FF2B5EF4-FFF2-40B4-BE49-F238E27FC236}">
                <a16:creationId xmlns:a16="http://schemas.microsoft.com/office/drawing/2014/main" id="{78788AEC-4B3F-C5FF-B0D4-D142E89A73AF}"/>
              </a:ext>
            </a:extLst>
          </p:cNvPr>
          <p:cNvSpPr txBox="1"/>
          <p:nvPr/>
        </p:nvSpPr>
        <p:spPr>
          <a:xfrm>
            <a:off x="4623071" y="2942446"/>
            <a:ext cx="2970686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Genitorialità</a:t>
            </a:r>
            <a:r>
              <a:rPr sz="2000" b="1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condivisa</a:t>
            </a:r>
            <a:endParaRPr sz="2000" b="1" i="0" dirty="0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Box 13">
            <a:extLst>
              <a:ext uri="{FF2B5EF4-FFF2-40B4-BE49-F238E27FC236}">
                <a16:creationId xmlns:a16="http://schemas.microsoft.com/office/drawing/2014/main" id="{D3B8FA0C-CF33-CD86-A081-E48E488ACAF0}"/>
              </a:ext>
            </a:extLst>
          </p:cNvPr>
          <p:cNvSpPr txBox="1"/>
          <p:nvPr/>
        </p:nvSpPr>
        <p:spPr>
          <a:xfrm>
            <a:off x="4800424" y="3436363"/>
            <a:ext cx="2601873" cy="646331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anchor="t">
            <a:spAutoFit/>
          </a:bodyPr>
          <a:lstStyle/>
          <a:p>
            <a:pPr algn="ctr"/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continuare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genitori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insieme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anche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relazione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coppia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è cambiata.</a:t>
            </a:r>
          </a:p>
        </p:txBody>
      </p:sp>
      <p:sp>
        <p:nvSpPr>
          <p:cNvPr id="57" name="Rectangle 14">
            <a:extLst>
              <a:ext uri="{FF2B5EF4-FFF2-40B4-BE49-F238E27FC236}">
                <a16:creationId xmlns:a16="http://schemas.microsoft.com/office/drawing/2014/main" id="{7485AF6E-7D93-3DF7-4E68-8EB930203105}"/>
              </a:ext>
            </a:extLst>
          </p:cNvPr>
          <p:cNvSpPr/>
          <p:nvPr/>
        </p:nvSpPr>
        <p:spPr>
          <a:xfrm>
            <a:off x="8297799" y="2741829"/>
            <a:ext cx="2331720" cy="16459"/>
          </a:xfrm>
          <a:prstGeom prst="rect">
            <a:avLst/>
          </a:prstGeom>
          <a:solidFill>
            <a:srgbClr val="C6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Box 15">
            <a:extLst>
              <a:ext uri="{FF2B5EF4-FFF2-40B4-BE49-F238E27FC236}">
                <a16:creationId xmlns:a16="http://schemas.microsoft.com/office/drawing/2014/main" id="{3B60627C-2D58-6902-E68F-E661887B2410}"/>
              </a:ext>
            </a:extLst>
          </p:cNvPr>
          <p:cNvSpPr txBox="1"/>
          <p:nvPr/>
        </p:nvSpPr>
        <p:spPr>
          <a:xfrm>
            <a:off x="8049998" y="2942446"/>
            <a:ext cx="3044424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Conflitti</a:t>
            </a:r>
            <a:r>
              <a:rPr sz="2000" b="1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</a:t>
            </a:r>
            <a:r>
              <a:rPr sz="2000" b="1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generazioni</a:t>
            </a:r>
            <a:endParaRPr sz="2000" b="1" i="0" dirty="0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Box 16">
            <a:extLst>
              <a:ext uri="{FF2B5EF4-FFF2-40B4-BE49-F238E27FC236}">
                <a16:creationId xmlns:a16="http://schemas.microsoft.com/office/drawing/2014/main" id="{C27AA576-F0A0-A2DD-49F1-B09BD8435C03}"/>
              </a:ext>
            </a:extLst>
          </p:cNvPr>
          <p:cNvSpPr txBox="1"/>
          <p:nvPr/>
        </p:nvSpPr>
        <p:spPr>
          <a:xfrm>
            <a:off x="8134353" y="3441187"/>
            <a:ext cx="2788620" cy="830997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anchor="t">
            <a:spAutoFit/>
          </a:bodyPr>
          <a:lstStyle/>
          <a:p>
            <a:pPr algn="ctr"/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visioni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aspettative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bisogni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genitori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figli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adulti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rendono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difficile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comunicare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0" name="Rectangle 17">
            <a:extLst>
              <a:ext uri="{FF2B5EF4-FFF2-40B4-BE49-F238E27FC236}">
                <a16:creationId xmlns:a16="http://schemas.microsoft.com/office/drawing/2014/main" id="{B847BC06-6710-7190-AB59-4BB8C2285093}"/>
              </a:ext>
            </a:extLst>
          </p:cNvPr>
          <p:cNvSpPr/>
          <p:nvPr/>
        </p:nvSpPr>
        <p:spPr>
          <a:xfrm>
            <a:off x="4878351" y="4604602"/>
            <a:ext cx="2331720" cy="16459"/>
          </a:xfrm>
          <a:prstGeom prst="rect">
            <a:avLst/>
          </a:prstGeom>
          <a:solidFill>
            <a:srgbClr val="C6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TextBox 18">
            <a:extLst>
              <a:ext uri="{FF2B5EF4-FFF2-40B4-BE49-F238E27FC236}">
                <a16:creationId xmlns:a16="http://schemas.microsoft.com/office/drawing/2014/main" id="{7FA9C1A0-A9D7-CC90-5AEF-46CEEBB906A8}"/>
              </a:ext>
            </a:extLst>
          </p:cNvPr>
          <p:cNvSpPr txBox="1"/>
          <p:nvPr/>
        </p:nvSpPr>
        <p:spPr>
          <a:xfrm>
            <a:off x="4667942" y="4719494"/>
            <a:ext cx="2768707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Eredità</a:t>
            </a:r>
            <a:r>
              <a:rPr sz="2000" b="1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successioni</a:t>
            </a:r>
            <a:endParaRPr sz="2000" b="1" i="0" dirty="0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Box 19">
            <a:extLst>
              <a:ext uri="{FF2B5EF4-FFF2-40B4-BE49-F238E27FC236}">
                <a16:creationId xmlns:a16="http://schemas.microsoft.com/office/drawing/2014/main" id="{9EF614A2-F82E-0003-129F-E5551265FC6E}"/>
              </a:ext>
            </a:extLst>
          </p:cNvPr>
          <p:cNvSpPr txBox="1"/>
          <p:nvPr/>
        </p:nvSpPr>
        <p:spPr>
          <a:xfrm>
            <a:off x="4800423" y="5220189"/>
            <a:ext cx="2636225" cy="830997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anchor="t">
            <a:spAutoFit/>
          </a:bodyPr>
          <a:lstStyle/>
          <a:p>
            <a:pPr algn="ctr"/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affrontare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legate a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un’eredità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senza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lasciare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differenze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diventino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fratture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familiari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3" name="Rectangle 20">
            <a:extLst>
              <a:ext uri="{FF2B5EF4-FFF2-40B4-BE49-F238E27FC236}">
                <a16:creationId xmlns:a16="http://schemas.microsoft.com/office/drawing/2014/main" id="{3A2E6955-457B-3F90-24F8-0A44E99ACBA3}"/>
              </a:ext>
            </a:extLst>
          </p:cNvPr>
          <p:cNvSpPr/>
          <p:nvPr/>
        </p:nvSpPr>
        <p:spPr>
          <a:xfrm>
            <a:off x="1563243" y="4616983"/>
            <a:ext cx="2331720" cy="16459"/>
          </a:xfrm>
          <a:prstGeom prst="rect">
            <a:avLst/>
          </a:prstGeom>
          <a:solidFill>
            <a:srgbClr val="C6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Box 21">
            <a:extLst>
              <a:ext uri="{FF2B5EF4-FFF2-40B4-BE49-F238E27FC236}">
                <a16:creationId xmlns:a16="http://schemas.microsoft.com/office/drawing/2014/main" id="{4BC5AC8C-789A-42C0-E24E-80B6BA0B4822}"/>
              </a:ext>
            </a:extLst>
          </p:cNvPr>
          <p:cNvSpPr txBox="1"/>
          <p:nvPr/>
        </p:nvSpPr>
        <p:spPr>
          <a:xfrm>
            <a:off x="1186703" y="4721432"/>
            <a:ext cx="3352201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Crisi e </a:t>
            </a:r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difficoltà</a:t>
            </a:r>
            <a:r>
              <a:rPr sz="2000" b="1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coppia</a:t>
            </a:r>
            <a:endParaRPr sz="2000" b="1" i="0" dirty="0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Box 22">
            <a:extLst>
              <a:ext uri="{FF2B5EF4-FFF2-40B4-BE49-F238E27FC236}">
                <a16:creationId xmlns:a16="http://schemas.microsoft.com/office/drawing/2014/main" id="{819CEC1F-6434-48BB-5EB2-5AB7CB93A599}"/>
              </a:ext>
            </a:extLst>
          </p:cNvPr>
          <p:cNvSpPr txBox="1"/>
          <p:nvPr/>
        </p:nvSpPr>
        <p:spPr>
          <a:xfrm>
            <a:off x="1272520" y="5228597"/>
            <a:ext cx="278512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il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dialogo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è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interrotto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utile uno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spazio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neutrale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provare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ritrovarlo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9" name="Rectangle 26">
            <a:extLst>
              <a:ext uri="{FF2B5EF4-FFF2-40B4-BE49-F238E27FC236}">
                <a16:creationId xmlns:a16="http://schemas.microsoft.com/office/drawing/2014/main" id="{8BD92F41-EFE7-63FB-83EA-327A830E7AF7}"/>
              </a:ext>
            </a:extLst>
          </p:cNvPr>
          <p:cNvSpPr/>
          <p:nvPr/>
        </p:nvSpPr>
        <p:spPr>
          <a:xfrm>
            <a:off x="8383524" y="4597933"/>
            <a:ext cx="2331720" cy="16459"/>
          </a:xfrm>
          <a:prstGeom prst="rect">
            <a:avLst/>
          </a:prstGeom>
          <a:solidFill>
            <a:srgbClr val="C6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TextBox 27">
            <a:extLst>
              <a:ext uri="{FF2B5EF4-FFF2-40B4-BE49-F238E27FC236}">
                <a16:creationId xmlns:a16="http://schemas.microsoft.com/office/drawing/2014/main" id="{D04D5038-94B1-896F-872C-0AE0DD5A1F0A}"/>
              </a:ext>
            </a:extLst>
          </p:cNvPr>
          <p:cNvSpPr txBox="1"/>
          <p:nvPr/>
        </p:nvSpPr>
        <p:spPr>
          <a:xfrm>
            <a:off x="8054934" y="4701854"/>
            <a:ext cx="2970685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lang="it-IT" sz="2000" b="1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ssistenza</a:t>
            </a:r>
            <a:r>
              <a:rPr sz="2000" b="1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dei</a:t>
            </a:r>
            <a:r>
              <a:rPr sz="2000" b="1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b="1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familiari</a:t>
            </a:r>
            <a:endParaRPr sz="2000" b="1" i="0" dirty="0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Box 28">
            <a:extLst>
              <a:ext uri="{FF2B5EF4-FFF2-40B4-BE49-F238E27FC236}">
                <a16:creationId xmlns:a16="http://schemas.microsoft.com/office/drawing/2014/main" id="{C6DD50F4-C7A1-3DC1-A851-46A05A7CF765}"/>
              </a:ext>
            </a:extLst>
          </p:cNvPr>
          <p:cNvSpPr txBox="1"/>
          <p:nvPr/>
        </p:nvSpPr>
        <p:spPr>
          <a:xfrm>
            <a:off x="8179422" y="5220189"/>
            <a:ext cx="274355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bisogna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decidere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insieme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prendersi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cura di un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genitore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di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persona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cara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le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posizioni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i="0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diventano</a:t>
            </a:r>
            <a:r>
              <a:rPr sz="1200" i="0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diverse.</a:t>
            </a:r>
          </a:p>
        </p:txBody>
      </p:sp>
      <p:sp>
        <p:nvSpPr>
          <p:cNvPr id="75" name="TextBox 32">
            <a:extLst>
              <a:ext uri="{FF2B5EF4-FFF2-40B4-BE49-F238E27FC236}">
                <a16:creationId xmlns:a16="http://schemas.microsoft.com/office/drawing/2014/main" id="{0B89A3A5-AA60-5DF4-9C00-0ECD78B9159E}"/>
              </a:ext>
            </a:extLst>
          </p:cNvPr>
          <p:cNvSpPr txBox="1"/>
          <p:nvPr/>
        </p:nvSpPr>
        <p:spPr>
          <a:xfrm>
            <a:off x="9685805" y="6236208"/>
            <a:ext cx="2401619" cy="238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Clicca</a:t>
            </a:r>
            <a:r>
              <a:rPr sz="950" b="1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50" b="1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sz="950" b="1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sz="950" b="1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ambito</a:t>
            </a:r>
            <a:r>
              <a:rPr sz="950" b="1" i="1" dirty="0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 </a:t>
            </a:r>
            <a:r>
              <a:rPr sz="950" b="1" i="1" dirty="0" err="1">
                <a:solidFill>
                  <a:schemeClr val="tx2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approfondire</a:t>
            </a:r>
            <a:endParaRPr sz="950" b="1" i="1" dirty="0">
              <a:solidFill>
                <a:schemeClr val="tx2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0" y="292608"/>
            <a:ext cx="6735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 sono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292608"/>
            <a:ext cx="85472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292608"/>
            <a:ext cx="119776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rivolgersi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5480" y="292608"/>
            <a:ext cx="9555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Contatti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40293" y="292608"/>
            <a:ext cx="10807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Primo </a:t>
            </a:r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colloquio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9200" y="621209"/>
            <a:ext cx="13394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chemeClr val="accent1"/>
                </a:solidFill>
                <a:latin typeface="Century Gothic (Corpo)"/>
              </a:rPr>
              <a:t>TESTIMONIANZE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655" y="1266444"/>
            <a:ext cx="75568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 i="1" dirty="0">
                <a:solidFill>
                  <a:schemeClr val="accent1"/>
                </a:solidFill>
                <a:latin typeface="Century Gothic (Corpo)"/>
              </a:rPr>
              <a:t>Le parole di chi ha </a:t>
            </a:r>
            <a:r>
              <a:rPr sz="3200" b="0" i="1" dirty="0" err="1">
                <a:solidFill>
                  <a:schemeClr val="accent1"/>
                </a:solidFill>
                <a:latin typeface="Century Gothic (Corpo)"/>
              </a:rPr>
              <a:t>fatto</a:t>
            </a:r>
            <a:r>
              <a:rPr sz="3200" b="0" i="1" dirty="0">
                <a:solidFill>
                  <a:schemeClr val="accent1"/>
                </a:solidFill>
                <a:latin typeface="Century Gothic (Corpo)"/>
              </a:rPr>
              <a:t> un </a:t>
            </a:r>
            <a:r>
              <a:rPr sz="3200" b="0" i="1" dirty="0" err="1">
                <a:solidFill>
                  <a:schemeClr val="accent1"/>
                </a:solidFill>
                <a:latin typeface="Century Gothic (Corpo)"/>
              </a:rPr>
              <a:t>percorso</a:t>
            </a:r>
            <a:r>
              <a:rPr sz="3200" b="0" i="1" dirty="0">
                <a:solidFill>
                  <a:schemeClr val="accent1"/>
                </a:solidFill>
                <a:latin typeface="Century Gothic (Corpo)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620" y="2310061"/>
            <a:ext cx="4709159" cy="1706880"/>
          </a:xfrm>
          <a:prstGeom prst="rect">
            <a:avLst/>
          </a:prstGeom>
          <a:solidFill>
            <a:srgbClr val="DFDFDC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19" y="2501860"/>
            <a:ext cx="4389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“Siamo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arrivati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con la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sensazione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che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non ci fosse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più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nulla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da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dirsi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. Ne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siamo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usciti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con un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accordo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e con un rispetto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reciproco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che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pensavamo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di aver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perso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20" y="3564875"/>
            <a:ext cx="23260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898D"/>
                </a:solidFill>
                <a:latin typeface="Aptos"/>
              </a:rPr>
              <a:t>M. e P. · Separazione consensuale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7453" y="2310061"/>
            <a:ext cx="4617720" cy="170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093" y="2521863"/>
            <a:ext cx="42986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“La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mediazione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non ha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cancellato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il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passato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, ma ci ha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permesso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di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smettere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di </a:t>
            </a:r>
            <a:r>
              <a:rPr b="0" i="1" dirty="0" err="1">
                <a:solidFill>
                  <a:srgbClr val="26322F"/>
                </a:solidFill>
                <a:latin typeface="Garamond" panose="02020404030301010803" pitchFamily="18" charset="0"/>
              </a:rPr>
              <a:t>portarlo</a:t>
            </a:r>
            <a:r>
              <a:rPr b="0" i="1" dirty="0">
                <a:solidFill>
                  <a:srgbClr val="26322F"/>
                </a:solidFill>
                <a:latin typeface="Garamond" panose="02020404030301010803" pitchFamily="18" charset="0"/>
              </a:rPr>
              <a:t> come un peso.”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564874"/>
            <a:ext cx="25233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69898D"/>
                </a:solidFill>
                <a:latin typeface="Aptos"/>
              </a:rPr>
              <a:t>Carlotta R. · </a:t>
            </a:r>
            <a:r>
              <a:rPr sz="1000" b="1" dirty="0" err="1">
                <a:solidFill>
                  <a:srgbClr val="69898D"/>
                </a:solidFill>
                <a:latin typeface="Aptos"/>
              </a:rPr>
              <a:t>Mediazione</a:t>
            </a:r>
            <a:r>
              <a:rPr sz="1000" b="1" dirty="0">
                <a:solidFill>
                  <a:srgbClr val="69898D"/>
                </a:solidFill>
                <a:latin typeface="Aptos"/>
              </a:rPr>
              <a:t> </a:t>
            </a:r>
            <a:r>
              <a:rPr sz="1000" b="1" dirty="0" err="1">
                <a:solidFill>
                  <a:srgbClr val="69898D"/>
                </a:solidFill>
                <a:latin typeface="Aptos"/>
              </a:rPr>
              <a:t>genitore-figlio</a:t>
            </a:r>
            <a:endParaRPr sz="1000" b="1" dirty="0">
              <a:solidFill>
                <a:srgbClr val="69898D"/>
              </a:solidFill>
              <a:latin typeface="Apto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B4CCEB5D-B690-93C2-7283-DD129E66F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71" y="418677"/>
            <a:ext cx="721895" cy="481263"/>
          </a:xfrm>
          <a:prstGeom prst="rect">
            <a:avLst/>
          </a:prstGeom>
        </p:spPr>
      </p:pic>
      <p:sp>
        <p:nvSpPr>
          <p:cNvPr id="18" name="Rectangle 12">
            <a:extLst>
              <a:ext uri="{FF2B5EF4-FFF2-40B4-BE49-F238E27FC236}">
                <a16:creationId xmlns:a16="http://schemas.microsoft.com/office/drawing/2014/main" id="{D91F9A68-0BA1-1574-C90A-B76277A3B0E9}"/>
              </a:ext>
            </a:extLst>
          </p:cNvPr>
          <p:cNvSpPr/>
          <p:nvPr/>
        </p:nvSpPr>
        <p:spPr>
          <a:xfrm>
            <a:off x="760094" y="4396586"/>
            <a:ext cx="4709159" cy="1706881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lumMod val="120000"/>
                </a:schemeClr>
              </a:gs>
              <a:gs pos="100000">
                <a:schemeClr val="bg2">
                  <a:shade val="98000"/>
                  <a:satMod val="120000"/>
                  <a:lumMod val="9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33C66A62-7117-4323-F805-3C69A47869F2}"/>
              </a:ext>
            </a:extLst>
          </p:cNvPr>
          <p:cNvSpPr/>
          <p:nvPr/>
        </p:nvSpPr>
        <p:spPr>
          <a:xfrm>
            <a:off x="6307454" y="4434150"/>
            <a:ext cx="4617720" cy="1706881"/>
          </a:xfrm>
          <a:prstGeom prst="rect">
            <a:avLst/>
          </a:prstGeom>
          <a:solidFill>
            <a:srgbClr val="DFDFDC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0763" y="627500"/>
            <a:ext cx="10821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chemeClr val="accent1"/>
                </a:solidFill>
                <a:latin typeface="Century Gothic (Corpo)"/>
              </a:rPr>
              <a:t>SCRIVIMI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19571" y="1444630"/>
            <a:ext cx="371127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200" b="0" i="1" dirty="0">
                <a:solidFill>
                  <a:schemeClr val="tx2"/>
                </a:solidFill>
                <a:latin typeface="Century Gothic (Corpo)"/>
              </a:rPr>
              <a:t>Il primo </a:t>
            </a:r>
            <a:r>
              <a:rPr sz="4200" b="0" i="1" dirty="0" err="1">
                <a:solidFill>
                  <a:schemeClr val="tx2"/>
                </a:solidFill>
                <a:latin typeface="Century Gothic (Corpo)"/>
              </a:rPr>
              <a:t>passo</a:t>
            </a:r>
            <a:br>
              <a:rPr i="1" dirty="0">
                <a:solidFill>
                  <a:schemeClr val="tx2"/>
                </a:solidFill>
                <a:latin typeface="Century Gothic (Corpo)"/>
              </a:rPr>
            </a:br>
            <a:r>
              <a:rPr i="1" dirty="0">
                <a:solidFill>
                  <a:schemeClr val="tx2"/>
                </a:solidFill>
                <a:latin typeface="Century Gothic (Corpo)"/>
              </a:rPr>
              <a:t>è </a:t>
            </a:r>
            <a:r>
              <a:rPr i="1" dirty="0" err="1">
                <a:solidFill>
                  <a:schemeClr val="tx2"/>
                </a:solidFill>
                <a:latin typeface="Century Gothic (Corpo)"/>
              </a:rPr>
              <a:t>una</a:t>
            </a:r>
            <a:r>
              <a:rPr i="1" dirty="0">
                <a:solidFill>
                  <a:schemeClr val="tx2"/>
                </a:solidFill>
                <a:latin typeface="Century Gothic (Corpo)"/>
              </a:rPr>
              <a:t> conversazione.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2871" y="3082922"/>
            <a:ext cx="747791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 err="1">
                <a:solidFill>
                  <a:schemeClr val="tx2"/>
                </a:solidFill>
                <a:latin typeface="Century Gothic (Corpo)"/>
              </a:rPr>
              <a:t>Compila</a:t>
            </a:r>
            <a:r>
              <a:rPr sz="1600" b="0" i="1" dirty="0">
                <a:solidFill>
                  <a:schemeClr val="tx2"/>
                </a:solidFill>
                <a:latin typeface="Century Gothic (Corpo)"/>
              </a:rPr>
              <a:t> il modulo o </a:t>
            </a:r>
            <a:r>
              <a:rPr sz="1600" b="0" i="1" dirty="0" err="1">
                <a:solidFill>
                  <a:schemeClr val="tx2"/>
                </a:solidFill>
                <a:latin typeface="Century Gothic (Corpo)"/>
              </a:rPr>
              <a:t>scrivimi</a:t>
            </a:r>
            <a:r>
              <a:rPr sz="1600" b="0" i="1" dirty="0">
                <a:solidFill>
                  <a:schemeClr val="tx2"/>
                </a:solidFill>
                <a:latin typeface="Century Gothic (Corpo)"/>
              </a:rPr>
              <a:t> </a:t>
            </a:r>
            <a:r>
              <a:rPr sz="1600" b="0" i="1" dirty="0" err="1">
                <a:solidFill>
                  <a:schemeClr val="tx2"/>
                </a:solidFill>
                <a:latin typeface="Century Gothic (Corpo)"/>
              </a:rPr>
              <a:t>direttamente</a:t>
            </a:r>
            <a:r>
              <a:rPr sz="1600" b="0" i="1" dirty="0">
                <a:solidFill>
                  <a:schemeClr val="tx2"/>
                </a:solidFill>
                <a:latin typeface="Century Gothic (Corpo)"/>
              </a:rPr>
              <a:t>. </a:t>
            </a:r>
            <a:endParaRPr lang="it-IT" sz="1600" b="0" i="1" dirty="0">
              <a:solidFill>
                <a:schemeClr val="tx2"/>
              </a:solidFill>
              <a:latin typeface="Century Gothic (Corpo)"/>
            </a:endParaRPr>
          </a:p>
          <a:p>
            <a:pPr algn="ctr"/>
            <a:endParaRPr lang="it-IT" sz="1400" b="0" i="1" dirty="0">
              <a:solidFill>
                <a:schemeClr val="tx2"/>
              </a:solidFill>
              <a:latin typeface="Century Gothic (Corpo)"/>
            </a:endParaRPr>
          </a:p>
          <a:p>
            <a:pPr algn="ctr"/>
            <a:r>
              <a:rPr lang="it-IT" sz="1600" i="1" dirty="0">
                <a:solidFill>
                  <a:schemeClr val="tx2"/>
                </a:solidFill>
                <a:latin typeface="Century Gothic" panose="020B0502020202020204" pitchFamily="34" charset="0"/>
              </a:rPr>
              <a:t>Se desideri ricevere informazioni o fissare un primo colloquio conoscitivo, sarò lieta di accompagnarti nell’individuazione del percorso più adatto.</a:t>
            </a:r>
          </a:p>
          <a:p>
            <a:pPr algn="ctr"/>
            <a:endParaRPr sz="1400" b="0" i="1" dirty="0">
              <a:solidFill>
                <a:schemeClr val="tx2"/>
              </a:solidFill>
              <a:latin typeface="Century Gothic (Corpo)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800600"/>
            <a:ext cx="5533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dirty="0">
                <a:solidFill>
                  <a:schemeClr val="tx2"/>
                </a:solidFill>
                <a:latin typeface="Century Gothic (Corpo)"/>
              </a:rPr>
              <a:t>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4782312"/>
            <a:ext cx="14853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it-IT" sz="1200" dirty="0">
                <a:solidFill>
                  <a:schemeClr val="tx2"/>
                </a:solidFill>
                <a:latin typeface="Aptos"/>
                <a:hlinkClick r:id="rId2"/>
              </a:rPr>
              <a:t>Linda.cifaldi@live.it</a:t>
            </a:r>
            <a:endParaRPr sz="1200" b="0" dirty="0">
              <a:solidFill>
                <a:schemeClr val="tx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86273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dirty="0">
                <a:solidFill>
                  <a:schemeClr val="tx2"/>
                </a:solidFill>
                <a:latin typeface="Century Gothic (Corpo)"/>
              </a:rPr>
              <a:t>TELEFONO</a:t>
            </a:r>
            <a:endParaRPr sz="1100" b="1" dirty="0">
              <a:solidFill>
                <a:schemeClr val="tx2"/>
              </a:solidFill>
              <a:latin typeface="Century Gothic (Corpo)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200" y="5285232"/>
            <a:ext cx="153599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it-IT" sz="1400" b="0" dirty="0">
                <a:solidFill>
                  <a:schemeClr val="tx2"/>
                </a:solidFill>
                <a:latin typeface="Century Gothic (Corpo)"/>
              </a:rPr>
              <a:t>+39 3294155464</a:t>
            </a:r>
            <a:endParaRPr sz="1400" b="0" dirty="0">
              <a:solidFill>
                <a:schemeClr val="tx2"/>
              </a:solidFill>
              <a:latin typeface="Century Gothic (Corpo)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843384"/>
            <a:ext cx="6206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dirty="0">
                <a:solidFill>
                  <a:schemeClr val="tx2"/>
                </a:solidFill>
                <a:latin typeface="Century Gothic (Corpo)"/>
              </a:rPr>
              <a:t>STUDIO</a:t>
            </a:r>
            <a:endParaRPr sz="1200" b="1" dirty="0">
              <a:solidFill>
                <a:schemeClr val="tx2"/>
              </a:solidFill>
              <a:latin typeface="Century Gothic (Corpo)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6B4512B-4543-8B08-0E28-ABEBD2506154}"/>
              </a:ext>
            </a:extLst>
          </p:cNvPr>
          <p:cNvSpPr txBox="1"/>
          <p:nvPr/>
        </p:nvSpPr>
        <p:spPr>
          <a:xfrm>
            <a:off x="1487054" y="5782021"/>
            <a:ext cx="3823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i="1" dirty="0">
                <a:solidFill>
                  <a:schemeClr val="tx2"/>
                </a:solidFill>
                <a:latin typeface="Century Gothic (Corpo)"/>
              </a:rPr>
              <a:t>online e in presenza (San Giovanni – Prati</a:t>
            </a:r>
            <a:r>
              <a:rPr lang="it-IT" sz="1400" i="1" dirty="0">
                <a:solidFill>
                  <a:schemeClr val="tx2"/>
                </a:solidFill>
                <a:latin typeface="Century Gothic (Corpo)"/>
              </a:rPr>
              <a:t>)</a:t>
            </a:r>
            <a:endParaRPr lang="it-IT" sz="1400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5652DB1A-6A6B-07C8-9CB2-EEC77065B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19" y="414562"/>
            <a:ext cx="721895" cy="481263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0FACDECA-CDA9-48E7-E8D9-03EA43FFAA52}"/>
              </a:ext>
            </a:extLst>
          </p:cNvPr>
          <p:cNvSpPr txBox="1"/>
          <p:nvPr/>
        </p:nvSpPr>
        <p:spPr>
          <a:xfrm>
            <a:off x="5429250" y="416433"/>
            <a:ext cx="6735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 sono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7BD87ADE-8817-8675-78BD-1EE89FE3C059}"/>
              </a:ext>
            </a:extLst>
          </p:cNvPr>
          <p:cNvSpPr txBox="1"/>
          <p:nvPr/>
        </p:nvSpPr>
        <p:spPr>
          <a:xfrm>
            <a:off x="6686550" y="425958"/>
            <a:ext cx="85472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Mediazione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A9DCCD94-B91F-C638-B0E9-912622DC4601}"/>
              </a:ext>
            </a:extLst>
          </p:cNvPr>
          <p:cNvSpPr txBox="1"/>
          <p:nvPr/>
        </p:nvSpPr>
        <p:spPr>
          <a:xfrm>
            <a:off x="8071485" y="425958"/>
            <a:ext cx="119776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</a:t>
            </a:r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rivolgersi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948946CE-7CFE-34CF-451C-3F8F02180A8F}"/>
              </a:ext>
            </a:extLst>
          </p:cNvPr>
          <p:cNvSpPr txBox="1"/>
          <p:nvPr/>
        </p:nvSpPr>
        <p:spPr>
          <a:xfrm>
            <a:off x="9460230" y="425958"/>
            <a:ext cx="9555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Contatti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CFC1DEDF-34EE-97B0-94F9-4EB703657D74}"/>
              </a:ext>
            </a:extLst>
          </p:cNvPr>
          <p:cNvSpPr txBox="1"/>
          <p:nvPr/>
        </p:nvSpPr>
        <p:spPr>
          <a:xfrm>
            <a:off x="10640293" y="425958"/>
            <a:ext cx="10807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Primo </a:t>
            </a:r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colloquio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42007" y="2855245"/>
            <a:ext cx="733700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i="1" dirty="0">
                <a:solidFill>
                  <a:schemeClr val="tx2"/>
                </a:solidFill>
                <a:latin typeface="Garamond" panose="02020404030301010803" pitchFamily="18" charset="0"/>
              </a:rPr>
              <a:t>Dott.ssa Linda Cifaldi</a:t>
            </a:r>
          </a:p>
          <a:p>
            <a:pPr algn="ctr"/>
            <a:endParaRPr lang="it-IT" sz="1600" b="1" i="1" dirty="0">
              <a:solidFill>
                <a:schemeClr val="tx2"/>
              </a:solidFill>
              <a:latin typeface="Garamond" panose="02020404030301010803" pitchFamily="18" charset="0"/>
            </a:endParaRPr>
          </a:p>
          <a:p>
            <a:pPr algn="ctr"/>
            <a:r>
              <a:rPr lang="it-IT" sz="1600" dirty="0">
                <a:solidFill>
                  <a:schemeClr val="tx2"/>
                </a:solidFill>
                <a:latin typeface="Century Gothic (Corpo)"/>
              </a:rPr>
              <a:t>Pedagogista e Mediatrice familiare</a:t>
            </a:r>
            <a:r>
              <a:rPr lang="it-IT" sz="1400" dirty="0">
                <a:solidFill>
                  <a:schemeClr val="tx2"/>
                </a:solidFill>
                <a:latin typeface="Century Gothic (Corpo)"/>
              </a:rPr>
              <a:t> </a:t>
            </a:r>
          </a:p>
          <a:p>
            <a:pPr algn="ctr"/>
            <a:br>
              <a:rPr dirty="0">
                <a:solidFill>
                  <a:schemeClr val="tx2"/>
                </a:solidFill>
                <a:latin typeface="Century Gothic (Corpo)"/>
              </a:rPr>
            </a:br>
            <a:r>
              <a:rPr lang="it-IT" sz="1600" i="1" dirty="0">
                <a:solidFill>
                  <a:schemeClr val="tx2"/>
                </a:solidFill>
                <a:latin typeface="Century Gothic (Corpo)"/>
              </a:rPr>
              <a:t>Ricevo online e in presenza (San Giovanni – Prati)</a:t>
            </a:r>
            <a:endParaRPr dirty="0">
              <a:solidFill>
                <a:schemeClr val="tx2"/>
              </a:solidFill>
              <a:latin typeface="Century Gothic (Corpo)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55410" y="5308495"/>
            <a:ext cx="216791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600" b="1" dirty="0">
                <a:solidFill>
                  <a:schemeClr val="tx2"/>
                </a:solidFill>
                <a:latin typeface="Century Gothic (Corpo)"/>
              </a:rPr>
              <a:t>CONTACT</a:t>
            </a:r>
          </a:p>
          <a:p>
            <a:pPr algn="r"/>
            <a:endParaRPr lang="it-IT" sz="1600" i="1" dirty="0">
              <a:solidFill>
                <a:schemeClr val="tx2"/>
              </a:solidFill>
              <a:latin typeface="Century Gothic (Corpo)"/>
            </a:endParaRPr>
          </a:p>
          <a:p>
            <a:pPr algn="r"/>
            <a:r>
              <a:rPr lang="it-IT" sz="1600" i="1" dirty="0">
                <a:solidFill>
                  <a:schemeClr val="tx2"/>
                </a:solidFill>
                <a:latin typeface="Century Gothic (Corpo)"/>
              </a:rPr>
              <a:t>+39 329 4155464 </a:t>
            </a:r>
          </a:p>
          <a:p>
            <a:pPr algn="r"/>
            <a:r>
              <a:rPr lang="it-IT" sz="1600" i="1" dirty="0">
                <a:solidFill>
                  <a:schemeClr val="tx2"/>
                </a:solidFill>
                <a:latin typeface="Century Gothic (Corpo)"/>
              </a:rPr>
              <a:t>linda.cifaldi@live.it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46345"/>
            <a:ext cx="10881360" cy="10972"/>
          </a:xfrm>
          <a:prstGeom prst="rect">
            <a:avLst/>
          </a:prstGeom>
          <a:solidFill>
            <a:srgbClr val="BED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293439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526363"/>
                </a:solidFill>
                <a:latin typeface="Aptos"/>
              </a:rPr>
              <a:t>Privacy · Cookie policy · © 2026 · Tutti </a:t>
            </a:r>
            <a:r>
              <a:rPr sz="900" b="0" dirty="0" err="1">
                <a:solidFill>
                  <a:srgbClr val="526363"/>
                </a:solidFill>
                <a:latin typeface="Aptos"/>
              </a:rPr>
              <a:t>i</a:t>
            </a:r>
            <a:r>
              <a:rPr sz="900" b="0" dirty="0">
                <a:solidFill>
                  <a:srgbClr val="526363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526363"/>
                </a:solidFill>
                <a:latin typeface="Aptos"/>
              </a:rPr>
              <a:t>diritti</a:t>
            </a:r>
            <a:r>
              <a:rPr sz="900" b="0" dirty="0">
                <a:solidFill>
                  <a:srgbClr val="526363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526363"/>
                </a:solidFill>
                <a:latin typeface="Aptos"/>
              </a:rPr>
              <a:t>riservati</a:t>
            </a:r>
            <a:endParaRPr sz="900" b="0" dirty="0">
              <a:solidFill>
                <a:srgbClr val="526363"/>
              </a:solidFill>
              <a:latin typeface="Aptos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F6869A47-4B07-2B31-329F-5F822114A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438" y="1447602"/>
            <a:ext cx="1197204" cy="79813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6C6A49CD-5890-1687-8537-9AEF5182D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349" y="5356029"/>
            <a:ext cx="413977" cy="275984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1341B0A8-7B1D-160A-9D21-DEED88321A90}"/>
              </a:ext>
            </a:extLst>
          </p:cNvPr>
          <p:cNvSpPr txBox="1"/>
          <p:nvPr/>
        </p:nvSpPr>
        <p:spPr>
          <a:xfrm>
            <a:off x="5486400" y="292608"/>
            <a:ext cx="6735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 sono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F4A4D-625F-96AB-2D58-D7446754FC2E}"/>
              </a:ext>
            </a:extLst>
          </p:cNvPr>
          <p:cNvSpPr txBox="1"/>
          <p:nvPr/>
        </p:nvSpPr>
        <p:spPr>
          <a:xfrm>
            <a:off x="6629400" y="292608"/>
            <a:ext cx="85472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Mediazione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D7E047-BD64-B5BD-9198-2765332ED5BC}"/>
              </a:ext>
            </a:extLst>
          </p:cNvPr>
          <p:cNvSpPr txBox="1"/>
          <p:nvPr/>
        </p:nvSpPr>
        <p:spPr>
          <a:xfrm>
            <a:off x="7909560" y="292608"/>
            <a:ext cx="119776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rivolgersi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DA185-7677-D23E-FC99-9A67DA0BA195}"/>
              </a:ext>
            </a:extLst>
          </p:cNvPr>
          <p:cNvSpPr txBox="1"/>
          <p:nvPr/>
        </p:nvSpPr>
        <p:spPr>
          <a:xfrm>
            <a:off x="9555480" y="292608"/>
            <a:ext cx="9555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Contatti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4B42E-79FB-CEEA-F88C-BB8DA141748E}"/>
              </a:ext>
            </a:extLst>
          </p:cNvPr>
          <p:cNvSpPr txBox="1"/>
          <p:nvPr/>
        </p:nvSpPr>
        <p:spPr>
          <a:xfrm>
            <a:off x="10640293" y="292608"/>
            <a:ext cx="10807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Primo </a:t>
            </a:r>
            <a:r>
              <a:rPr sz="1100" b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colloquio</a:t>
            </a:r>
            <a:endParaRPr sz="1100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940</Words>
  <Application>Microsoft Office PowerPoint</Application>
  <PresentationFormat>Widescreen</PresentationFormat>
  <Paragraphs>166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Century Gothic</vt:lpstr>
      <vt:lpstr>Century Gothic (Corpo)</vt:lpstr>
      <vt:lpstr>Garamond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linda cifaldi</cp:lastModifiedBy>
  <cp:revision>16</cp:revision>
  <dcterms:created xsi:type="dcterms:W3CDTF">2013-01-27T09:14:16Z</dcterms:created>
  <dcterms:modified xsi:type="dcterms:W3CDTF">2026-08-13T16:02:31Z</dcterms:modified>
  <cp:category/>
</cp:coreProperties>
</file>